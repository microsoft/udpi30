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53E37"/>
          </a:solidFill>
          <a:ln w="12700">
            <a:solidFill>
              <a:srgbClr val="153E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20000">
            <a:off x="7818120" y="4251960"/>
            <a:ext cx="4023360" cy="3291840"/>
          </a:xfrm>
          <a:prstGeom prst="arc">
            <a:avLst/>
          </a:prstGeom>
          <a:solidFill>
            <a:srgbClr val="008C7A">
              <a:alpha val="82000"/>
            </a:srgbClr>
          </a:solidFill>
          <a:ln w="12700">
            <a:solidFill>
              <a:srgbClr val="008C7A">
                <a:alpha val="0"/>
              </a:srgbClr>
            </a:solidFill>
            <a:prstDash val="solid"/>
          </a:ln>
        </p:spPr>
      </p:sp>
      <p:pic>
        <p:nvPicPr>
          <p:cNvPr id="4" name="Image 0" descr="UDPI30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1051560"/>
            <a:ext cx="2240280" cy="2240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85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3E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DATA PLATFORM DEPLOYMENT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298448"/>
            <a:ext cx="6583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safer path from manifest to Microsoft data estate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3310128"/>
            <a:ext cx="6080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E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1.14.0 adds guarded example deployment assurance and semantic-model-driven Fabric Ontology authoring.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808" y="59253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JULY 31,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UDPI30 v1.14.0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E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manifest, three control planes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2057400"/>
            <a:ext cx="1965960" cy="1965960"/>
          </a:xfrm>
          <a:prstGeom prst="hexagon">
            <a:avLst/>
          </a:prstGeom>
          <a:solidFill>
            <a:srgbClr val="102A27"/>
          </a:solidFill>
          <a:ln w="12700">
            <a:solidFill>
              <a:srgbClr val="102A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651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E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udp.yml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0" y="1645920"/>
            <a:ext cx="2057400" cy="2971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C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15968" y="1901952"/>
            <a:ext cx="731520" cy="731520"/>
          </a:xfrm>
          <a:prstGeom prst="ellipse">
            <a:avLst/>
          </a:prstGeom>
          <a:solidFill>
            <a:srgbClr val="008C7A"/>
          </a:solidFill>
          <a:ln w="12700">
            <a:solidFill>
              <a:srgbClr val="008C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15968" y="20848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86200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Fabric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886200" y="32552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86200" y="367588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 item types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 scope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2057400" cy="2971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6A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9168" y="1901952"/>
            <a:ext cx="731520" cy="731520"/>
          </a:xfrm>
          <a:prstGeom prst="ellipse">
            <a:avLst/>
          </a:prstGeom>
          <a:solidFill>
            <a:srgbClr val="EF6A54"/>
          </a:solidFill>
          <a:ln w="12700">
            <a:solidFill>
              <a:srgbClr val="EF6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9168" y="20848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629400" y="32552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6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Graph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367588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 and apps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scope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0" y="1645920"/>
            <a:ext cx="2057400" cy="2971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2C1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02368" y="1901952"/>
            <a:ext cx="731520" cy="73152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02368" y="20848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72600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372600" y="32552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Bicep + az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72600" y="367588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 service types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 scopes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0" y="4882896"/>
            <a:ext cx="8531352" cy="0"/>
          </a:xfrm>
          <a:prstGeom prst="line">
            <a:avLst/>
          </a:prstGeom>
          <a:noFill/>
          <a:ln w="25400">
            <a:solidFill>
              <a:srgbClr val="C9D9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4023360"/>
            <a:ext cx="0" cy="859536"/>
          </a:xfrm>
          <a:prstGeom prst="line">
            <a:avLst/>
          </a:prstGeom>
          <a:noFill/>
          <a:ln w="25400">
            <a:solidFill>
              <a:srgbClr val="008C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4617720"/>
            <a:ext cx="0" cy="265176"/>
          </a:xfrm>
          <a:prstGeom prst="line">
            <a:avLst/>
          </a:prstGeom>
          <a:noFill/>
          <a:ln w="25400">
            <a:solidFill>
              <a:srgbClr val="008C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6008" y="4832604"/>
            <a:ext cx="100584" cy="100584"/>
          </a:xfrm>
          <a:prstGeom prst="ellipse">
            <a:avLst/>
          </a:prstGeom>
          <a:solidFill>
            <a:srgbClr val="008C7A"/>
          </a:solidFill>
          <a:ln w="12700">
            <a:solidFill>
              <a:srgbClr val="008C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29500" y="4617720"/>
            <a:ext cx="0" cy="265176"/>
          </a:xfrm>
          <a:prstGeom prst="line">
            <a:avLst/>
          </a:prstGeom>
          <a:noFill/>
          <a:ln w="25400">
            <a:solidFill>
              <a:srgbClr val="EF6A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79208" y="4832604"/>
            <a:ext cx="100584" cy="100584"/>
          </a:xfrm>
          <a:prstGeom prst="ellipse">
            <a:avLst/>
          </a:prstGeom>
          <a:solidFill>
            <a:srgbClr val="EF6A54"/>
          </a:solidFill>
          <a:ln w="12700">
            <a:solidFill>
              <a:srgbClr val="EF6A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72700" y="4617720"/>
            <a:ext cx="0" cy="265176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22408" y="4832604"/>
            <a:ext cx="100584" cy="1005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52120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E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-&gt; Resolve -&gt; Plan -&gt; Deploy -&gt; State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4360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UDPI30 v1.14.0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NEW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1.14.0 expands assurance and authoring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3401568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D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64792"/>
            <a:ext cx="438912" cy="438912"/>
          </a:xfrm>
          <a:prstGeom prst="ellipse">
            <a:avLst/>
          </a:prstGeom>
          <a:solidFill>
            <a:srgbClr val="008C7A"/>
          </a:solidFill>
          <a:ln w="12700">
            <a:solidFill>
              <a:srgbClr val="008C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33372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81328" y="1746504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harness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2377440"/>
            <a:ext cx="285292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14 examples share one black-box runner. Preflight, validation, planning, deployment, evidence, ownership checks, and cleanup follow the same contract locally and in CI.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401568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D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764792"/>
            <a:ext cx="438912" cy="438912"/>
          </a:xfrm>
          <a:prstGeom prst="ellipse">
            <a:avLst/>
          </a:prstGeom>
          <a:solidFill>
            <a:srgbClr val="EF6A54"/>
          </a:solidFill>
          <a:ln w="12700">
            <a:solidFill>
              <a:srgbClr val="EF6A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833372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746504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Ontology Builder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377440"/>
            <a:ext cx="285292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Windows application reads TMDL from a Fabric semantic model, creates editable entities and relationships, and publishes a new Fabric Ontology item.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508760"/>
            <a:ext cx="3401568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D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764792"/>
            <a:ext cx="438912" cy="43891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1833372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42832" y="1746504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Strict secret deferral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94192" y="2377440"/>
            <a:ext cx="285292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Source-only validation keeps ordinary variables strict while valid secret and Key Vault references remain deferred until plan or deployment.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UDPI30 v1.14.0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ASSURANCE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mutation is the last step, not the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1097280" cy="1097280"/>
          </a:xfrm>
          <a:prstGeom prst="ellipse">
            <a:avLst/>
          </a:prstGeom>
          <a:solidFill>
            <a:srgbClr val="008C7A"/>
          </a:solidFill>
          <a:ln w="12700">
            <a:solidFill>
              <a:srgbClr val="008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9568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299923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Preflight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349300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4041648"/>
            <a:ext cx="2194560" cy="1005840"/>
          </a:xfrm>
          <a:prstGeom prst="rect">
            <a:avLst/>
          </a:prstGeom>
          <a:solidFill>
            <a:srgbClr val="F4F8F7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2976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auth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8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mutation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993392"/>
            <a:ext cx="566928" cy="384048"/>
          </a:xfrm>
          <a:prstGeom prst="chevron">
            <a:avLst/>
          </a:prstGeom>
          <a:solidFill>
            <a:srgbClr val="C9D9D4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1104" y="1645920"/>
            <a:ext cx="1097280" cy="1097280"/>
          </a:xfrm>
          <a:prstGeom prst="ellipse">
            <a:avLst/>
          </a:prstGeom>
          <a:solidFill>
            <a:srgbClr val="2A8EAA"/>
          </a:solidFill>
          <a:ln w="12700">
            <a:solidFill>
              <a:srgbClr val="2A8E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19568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47872" y="299923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47872" y="349300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locally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12464" y="4041648"/>
            <a:ext cx="2194560" cy="1005840"/>
          </a:xfrm>
          <a:prstGeom prst="rect">
            <a:avLst/>
          </a:prstGeom>
          <a:solidFill>
            <a:srgbClr val="F4F8F7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5344" y="42976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8E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auth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8E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mutation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07024" y="1993392"/>
            <a:ext cx="566928" cy="384048"/>
          </a:xfrm>
          <a:prstGeom prst="chevron">
            <a:avLst/>
          </a:prstGeom>
          <a:solidFill>
            <a:srgbClr val="C9D9D4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0608" y="1645920"/>
            <a:ext cx="1097280" cy="109728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19568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37376" y="299923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37376" y="349300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live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01968" y="4041648"/>
            <a:ext cx="2194560" cy="1005840"/>
          </a:xfrm>
          <a:prstGeom prst="rect">
            <a:avLst/>
          </a:prstGeom>
          <a:solidFill>
            <a:srgbClr val="F4F8F7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42976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Federated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mutation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96528" y="1993392"/>
            <a:ext cx="566928" cy="384048"/>
          </a:xfrm>
          <a:prstGeom prst="chevron">
            <a:avLst/>
          </a:prstGeom>
          <a:solidFill>
            <a:srgbClr val="C9D9D4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40112" y="1645920"/>
            <a:ext cx="1097280" cy="1097280"/>
          </a:xfrm>
          <a:prstGeom prst="ellipse">
            <a:avLst/>
          </a:prstGeom>
          <a:solidFill>
            <a:srgbClr val="EF6A54"/>
          </a:solidFill>
          <a:ln w="12700">
            <a:solidFill>
              <a:srgbClr val="EF6A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0112" y="19568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26880" y="299923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26880" y="349300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+ verify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91472" y="4041648"/>
            <a:ext cx="2194560" cy="1005840"/>
          </a:xfrm>
          <a:prstGeom prst="rect">
            <a:avLst/>
          </a:prstGeom>
          <a:solidFill>
            <a:srgbClr val="F4F8F7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74352" y="42976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6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Federated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F6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74520" y="5577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published on every run. Cleanup is refused when ownership drifts.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UDPI30 v1.14.0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73E2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ONTOLOGY BUILDER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589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semantic model to editable domain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993392"/>
            <a:ext cx="1920240" cy="2907792"/>
          </a:xfrm>
          <a:prstGeom prst="rect">
            <a:avLst/>
          </a:prstGeom>
          <a:solidFill>
            <a:srgbClr val="153E37"/>
          </a:solidFill>
          <a:ln w="15240">
            <a:solidFill>
              <a:srgbClr val="3F62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22677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E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6968" y="28895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6968" y="357530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 +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3154680"/>
            <a:ext cx="420624" cy="438912"/>
          </a:xfrm>
          <a:prstGeom prst="chevron">
            <a:avLst/>
          </a:prstGeom>
          <a:solidFill>
            <a:srgbClr val="73E2B7">
              <a:alpha val="85000"/>
            </a:srgbClr>
          </a:solidFill>
          <a:ln w="12700">
            <a:solidFill>
              <a:srgbClr val="73E2B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62656" y="1993392"/>
            <a:ext cx="1920240" cy="2907792"/>
          </a:xfrm>
          <a:prstGeom prst="rect">
            <a:avLst/>
          </a:prstGeom>
          <a:solidFill>
            <a:srgbClr val="153E37"/>
          </a:solidFill>
          <a:ln w="15240">
            <a:solidFill>
              <a:srgbClr val="3F62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91256" y="22677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E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91256" y="28895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TMDL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91256" y="357530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 + columns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64608" y="3154680"/>
            <a:ext cx="420624" cy="438912"/>
          </a:xfrm>
          <a:prstGeom prst="chevron">
            <a:avLst/>
          </a:prstGeom>
          <a:solidFill>
            <a:srgbClr val="73E2B7">
              <a:alpha val="85000"/>
            </a:srgbClr>
          </a:solidFill>
          <a:ln w="12700">
            <a:solidFill>
              <a:srgbClr val="73E2B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66944" y="1993392"/>
            <a:ext cx="1920240" cy="2907792"/>
          </a:xfrm>
          <a:prstGeom prst="rect">
            <a:avLst/>
          </a:prstGeom>
          <a:solidFill>
            <a:srgbClr val="153E37"/>
          </a:solidFill>
          <a:ln w="15240">
            <a:solidFill>
              <a:srgbClr val="3F62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95544" y="22677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E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95544" y="28895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95544" y="357530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Entities + relations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68896" y="3154680"/>
            <a:ext cx="420624" cy="438912"/>
          </a:xfrm>
          <a:prstGeom prst="chevron">
            <a:avLst/>
          </a:prstGeom>
          <a:solidFill>
            <a:srgbClr val="73E2B7">
              <a:alpha val="85000"/>
            </a:srgbClr>
          </a:solidFill>
          <a:ln w="12700">
            <a:solidFill>
              <a:srgbClr val="73E2B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71232" y="1993392"/>
            <a:ext cx="1920240" cy="2907792"/>
          </a:xfrm>
          <a:prstGeom prst="rect">
            <a:avLst/>
          </a:prstGeom>
          <a:solidFill>
            <a:srgbClr val="153E37"/>
          </a:solidFill>
          <a:ln w="15240">
            <a:solidFill>
              <a:srgbClr val="3F62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22677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E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99832" y="28895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Curate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99832" y="357530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 + descriptions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73184" y="3154680"/>
            <a:ext cx="420624" cy="438912"/>
          </a:xfrm>
          <a:prstGeom prst="chevron">
            <a:avLst/>
          </a:prstGeom>
          <a:solidFill>
            <a:srgbClr val="73E2B7">
              <a:alpha val="85000"/>
            </a:srgbClr>
          </a:solidFill>
          <a:ln w="12700">
            <a:solidFill>
              <a:srgbClr val="73E2B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0" y="1993392"/>
            <a:ext cx="1920240" cy="2907792"/>
          </a:xfrm>
          <a:prstGeom prst="rect">
            <a:avLst/>
          </a:prstGeom>
          <a:solidFill>
            <a:srgbClr val="008C7A"/>
          </a:solidFill>
          <a:ln w="15240">
            <a:solidFill>
              <a:srgbClr val="73E2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04120" y="22677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04120" y="28895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Publish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104120" y="357530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F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Ontology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75888" y="555955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source of truth: *.ontology.json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UDPI30 v1.14.0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E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TRADE-OFFS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release optimizes all five WAF pillars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07008" y="1508760"/>
            <a:ext cx="822960" cy="822960"/>
          </a:xfrm>
          <a:prstGeom prst="ellipse">
            <a:avLst/>
          </a:prstGeom>
          <a:solidFill>
            <a:srgbClr val="008C7A"/>
          </a:solidFill>
          <a:ln w="12700">
            <a:solidFill>
              <a:srgbClr val="008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7008" y="1737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26151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8096" y="324612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Federation, branch gates, no auto-grants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11296" y="1508760"/>
            <a:ext cx="822960" cy="822960"/>
          </a:xfrm>
          <a:prstGeom prst="ellipse">
            <a:avLst/>
          </a:prstGeom>
          <a:solidFill>
            <a:srgbClr val="2A8EAA"/>
          </a:solidFill>
          <a:ln w="12700">
            <a:solidFill>
              <a:srgbClr val="2A8E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37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62656" y="26151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72384" y="324612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verification and fail-closed cleanup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15584" y="1508760"/>
            <a:ext cx="822960" cy="82296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15584" y="1737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66944" y="26151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76672" y="324612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selection; sequential cloud work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9872" y="1508760"/>
            <a:ext cx="822960" cy="822960"/>
          </a:xfrm>
          <a:prstGeom prst="ellipse">
            <a:avLst/>
          </a:prstGeom>
          <a:solidFill>
            <a:srgbClr val="EF6A54"/>
          </a:solidFill>
          <a:ln w="12700">
            <a:solidFill>
              <a:srgbClr val="EF6A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737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71232" y="26151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80960" y="324612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catalogue mutation; cleanup by default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424160" y="1508760"/>
            <a:ext cx="822960" cy="822960"/>
          </a:xfrm>
          <a:prstGeom prst="ellipse">
            <a:avLst/>
          </a:prstGeom>
          <a:solidFill>
            <a:srgbClr val="153E37"/>
          </a:solidFill>
          <a:ln w="12700">
            <a:solidFill>
              <a:srgbClr val="153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0" y="1737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875520" y="26151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985248" y="324612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runner and evidence contract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280160" y="4800600"/>
            <a:ext cx="9601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50566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E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trade-off: slower, evidence-rich promotion in exchange for lower blast radius and stronger auditability.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UDPI30 v1.14.0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 CHECKLIST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v1.14.0 release publishes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5230368" cy="1417320"/>
          </a:xfrm>
          <a:prstGeom prst="rect">
            <a:avLst/>
          </a:prstGeom>
          <a:solidFill>
            <a:srgbClr val="F4F8F7"/>
          </a:solidFill>
          <a:ln w="19050">
            <a:solidFill>
              <a:srgbClr val="008C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100584" cy="1417320"/>
          </a:xfrm>
          <a:prstGeom prst="rect">
            <a:avLst/>
          </a:prstGeom>
          <a:solidFill>
            <a:srgbClr val="008C7A"/>
          </a:solidFill>
          <a:ln w="12700">
            <a:solidFill>
              <a:srgbClr val="008C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C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NuGet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468880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udpi30 1.14.0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0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udpi30-mcp 1.14.0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481328"/>
            <a:ext cx="5230368" cy="1417320"/>
          </a:xfrm>
          <a:prstGeom prst="rect">
            <a:avLst/>
          </a:prstGeom>
          <a:solidFill>
            <a:srgbClr val="F4F8F7"/>
          </a:solidFill>
          <a:ln w="19050">
            <a:solidFill>
              <a:srgbClr val="EF6A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81328"/>
            <a:ext cx="100584" cy="1417320"/>
          </a:xfrm>
          <a:prstGeom prst="rect">
            <a:avLst/>
          </a:prstGeom>
          <a:solidFill>
            <a:srgbClr val="EF6A54"/>
          </a:solidFill>
          <a:ln w="12700">
            <a:solidFill>
              <a:srgbClr val="EF6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737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6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19872" y="17099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udpi30-ontology-win-x64.zip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328416"/>
            <a:ext cx="5230368" cy="1417320"/>
          </a:xfrm>
          <a:prstGeom prst="rect">
            <a:avLst/>
          </a:prstGeom>
          <a:solidFill>
            <a:srgbClr val="F4F8F7"/>
          </a:solidFill>
          <a:ln w="19050">
            <a:solidFill>
              <a:srgbClr val="F2C1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328416"/>
            <a:ext cx="100584" cy="14173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5844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468880" y="3557016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MkDocs build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2A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Pages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328416"/>
            <a:ext cx="5230368" cy="1417320"/>
          </a:xfrm>
          <a:prstGeom prst="rect">
            <a:avLst/>
          </a:prstGeom>
          <a:solidFill>
            <a:srgbClr val="F4F8F7"/>
          </a:solidFill>
          <a:ln w="19050">
            <a:solidFill>
              <a:srgbClr val="2A8E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328416"/>
            <a:ext cx="100584" cy="1417320"/>
          </a:xfrm>
          <a:prstGeom prst="rect">
            <a:avLst/>
          </a:prstGeom>
          <a:solidFill>
            <a:srgbClr val="2A8EAA"/>
          </a:solidFill>
          <a:ln w="12700">
            <a:solidFill>
              <a:srgbClr val="2A8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35844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8E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19872" y="3557016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assets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2A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tag + notes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5212080"/>
            <a:ext cx="10808208" cy="749808"/>
          </a:xfrm>
          <a:prstGeom prst="rect">
            <a:avLst/>
          </a:prstGeom>
          <a:solidFill>
            <a:srgbClr val="102A27"/>
          </a:solidFill>
          <a:ln w="12700">
            <a:solidFill>
              <a:srgbClr val="102A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44068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E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-&gt; commit -&gt; push -&gt; tag v1.14.0 -&gt; verify packages, pages, and release assets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UDPI30 v1.14.0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8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Microsoft Unified Data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UDPI30 Release Overview</dc:title>
  <dc:subject>UDPI30 1.14.0 release overview</dc:subject>
  <dc:creator>GitHub Copilot</dc:creator>
  <cp:lastModifiedBy>GitHub Copilot</cp:lastModifiedBy>
  <cp:revision>1</cp:revision>
  <dcterms:created xsi:type="dcterms:W3CDTF">2026-07-31T23:02:50Z</dcterms:created>
  <dcterms:modified xsi:type="dcterms:W3CDTF">2026-07-31T23:02:50Z</dcterms:modified>
</cp:coreProperties>
</file>